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aa6f9321734e05" /><Relationship Type="http://schemas.openxmlformats.org/officeDocument/2006/relationships/extended-properties" Target="/docProps/app.xml" Id="Reab42194c99449de" /><Relationship Type="http://schemas.openxmlformats.org/officeDocument/2006/relationships/officeDocument" Target="/ppt/presentation.xml" Id="Rca8f310a491e43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95e349a8874659"/>
  </p:sldMasterIdLst>
  <p:notesMasterIdLst>
    <p:notesMasterId xmlns:r="http://schemas.openxmlformats.org/officeDocument/2006/relationships" r:id="R9956da58d4d14459"/>
  </p:notesMasterIdLst>
  <p:sldIdLst>
    <p:sldId xmlns:r="http://schemas.openxmlformats.org/officeDocument/2006/relationships" id="256" r:id="Rb61fda3659154c6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d6d557de5c4654" /><Relationship Type="http://schemas.openxmlformats.org/officeDocument/2006/relationships/slideMaster" Target="/ppt/slideMasters/slideMaster1.xml" Id="R6795e349a8874659" /><Relationship Type="http://schemas.openxmlformats.org/officeDocument/2006/relationships/notesMaster" Target="/ppt/notesMasters/notesMaster1.xml" Id="R9956da58d4d14459" /><Relationship Type="http://schemas.openxmlformats.org/officeDocument/2006/relationships/presProps" Target="/ppt/presProps.xml" Id="Rae621ad2ae094ae4" /><Relationship Type="http://schemas.openxmlformats.org/officeDocument/2006/relationships/tableStyles" Target="/ppt/tableStyles.xml" Id="Rab4ed6eca3b74328" /><Relationship Type="http://schemas.openxmlformats.org/officeDocument/2006/relationships/slide" Target="/ppt/slides/slide1.xml" Id="Rb61fda3659154c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2fc6b334f44c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246f7c3cb6439a" /><Relationship Type="http://schemas.openxmlformats.org/officeDocument/2006/relationships/notesMaster" Target="/ppt/notesMasters/notesMaster1.xml" Id="R95487ae1acbf41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82aa58d5247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b6ae3f2b3c47d6" /><Relationship Type="http://schemas.openxmlformats.org/officeDocument/2006/relationships/slideLayout" Target="/ppt/slideLayouts/slideLayout1.xml" Id="Ra42d2c4c2ec640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2d2c4c2ec640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58f45c59b4f4d" /><Relationship Type="http://schemas.openxmlformats.org/officeDocument/2006/relationships/notesSlide" Target="/ppt/notesSlides/notesSlide1.xml" Id="R7ccc86b8fd5b41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B2793E-4CDD-4C11-8DC4-2B41D177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5250"/>
            <a:ext cx="1143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0184B"/>
                </a:solidFill>
              </a:defRPr>
            </a:pPr>
            <a:r>
              <a:rPr sz="3900" b="1">
                <a:solidFill>
                  <a:srgbClr val="10184B"/>
                </a:solidFill>
              </a:rPr>
              <a:t>AI 代码审查平台质量治理核心逻辑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77793-3D6C-4B0B-8BC8-A172570D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7225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06C"/>
                </a:solidFill>
              </a:defRPr>
            </a:pPr>
            <a:r>
              <a:rPr sz="2100" b="1">
                <a:solidFill>
                  <a:srgbClr val="33406C"/>
                </a:solidFill>
              </a:rPr>
              <a:t>在线审查双轨  ·  高准确证据链  ·  离线治理闭环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59B96-264B-4A25-86F7-B349E8BD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096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6080"/>
                </a:solidFill>
              </a:defRPr>
            </a:pPr>
            <a:r>
              <a:rPr sz="1350" b="1">
                <a:solidFill>
                  <a:srgbClr val="556080"/>
                </a:solidFill>
              </a:rPr>
              <a:t>目标态总览｜包含当前能力与 docs/40 后续规划</a:t>
            </a:r>
          </a:p>
        </p:txBody>
      </p:sp>
      <p:sp>
        <p:nvSpPr>
          <p:cNvPr id="4" name="section-1">
            <a:extLst xmlns:a="http://schemas.openxmlformats.org/drawingml/2006/main">
              <a:ext uri="{FF2B5EF4-FFF2-40B4-BE49-F238E27FC236}">
                <a16:creationId xmlns:a16="http://schemas.microsoft.com/office/drawing/2014/main" id="{486024B3-965F-490A-9662-23839FCE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52550"/>
            <a:ext cx="3333750" cy="71247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BFCFF"/>
          </a:solidFill>
          <a:ln xmlns:a="http://schemas.openxmlformats.org/drawingml/2006/main" w="13335">
            <a:solidFill>
              <a:srgbClr val="B9C8F8"/>
            </a:solidFill>
            <a:prstDash val="solid"/>
          </a:ln>
        </p:spPr>
      </p:sp>
      <p:sp>
        <p:nvSpPr>
          <p:cNvPr id="5" name="section-number-1">
            <a:extLst xmlns:a="http://schemas.openxmlformats.org/drawingml/2006/main">
              <a:ext uri="{FF2B5EF4-FFF2-40B4-BE49-F238E27FC236}">
                <a16:creationId xmlns:a16="http://schemas.microsoft.com/office/drawing/2014/main" id="{92D458A0-6D8C-4991-906F-3505678D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22AB2FFB-FB87-4D75-9E4F-B4B009D5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2524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5EEF"/>
                </a:solidFill>
              </a:defRPr>
            </a:pPr>
            <a:r>
              <a:rPr sz="1725" b="1">
                <a:solidFill>
                  <a:srgbClr val="155EEF"/>
                </a:solidFill>
              </a:rPr>
              <a:t>变更进入与规则兜底</a:t>
            </a:r>
          </a:p>
        </p:txBody>
      </p:sp>
      <p:sp>
        <p:nvSpPr>
          <p:cNvPr id="7" name="section-2">
            <a:extLst xmlns:a="http://schemas.openxmlformats.org/drawingml/2006/main">
              <a:ext uri="{FF2B5EF4-FFF2-40B4-BE49-F238E27FC236}">
                <a16:creationId xmlns:a16="http://schemas.microsoft.com/office/drawing/2014/main" id="{DECCE131-D1B7-4012-8B45-AA2D536A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352550"/>
            <a:ext cx="10210800" cy="7124700"/>
          </a:xfrm>
          <a:prstGeom xmlns:a="http://schemas.openxmlformats.org/drawingml/2006/main" prst="roundRect">
            <a:avLst>
              <a:gd name="adj" fmla="val 1604"/>
            </a:avLst>
          </a:prstGeom>
          <a:solidFill xmlns:a="http://schemas.openxmlformats.org/drawingml/2006/main">
            <a:srgbClr val="FBFCFF"/>
          </a:solidFill>
          <a:ln xmlns:a="http://schemas.openxmlformats.org/drawingml/2006/main" w="13335">
            <a:solidFill>
              <a:srgbClr val="B9C8F8"/>
            </a:solidFill>
            <a:prstDash val="solid"/>
          </a:ln>
        </p:spPr>
      </p:sp>
      <p:sp>
        <p:nvSpPr>
          <p:cNvPr id="8" name="section-number-2">
            <a:extLst xmlns:a="http://schemas.openxmlformats.org/drawingml/2006/main">
              <a:ext uri="{FF2B5EF4-FFF2-40B4-BE49-F238E27FC236}">
                <a16:creationId xmlns:a16="http://schemas.microsoft.com/office/drawing/2014/main" id="{C7E59E43-CC46-4691-9FF5-0E77064B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04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section-title-2">
            <a:extLst xmlns:a="http://schemas.openxmlformats.org/drawingml/2006/main">
              <a:ext uri="{FF2B5EF4-FFF2-40B4-BE49-F238E27FC236}">
                <a16:creationId xmlns:a16="http://schemas.microsoft.com/office/drawing/2014/main" id="{214C59A3-3D87-4C6F-A704-7DDEF4EA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76375"/>
            <a:ext cx="940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5EEF"/>
                </a:solidFill>
              </a:defRPr>
            </a:pPr>
            <a:r>
              <a:rPr sz="1725" b="1">
                <a:solidFill>
                  <a:srgbClr val="155EEF"/>
                </a:solidFill>
              </a:rPr>
              <a:t>证据约束的 AI Review</a:t>
            </a:r>
          </a:p>
        </p:txBody>
      </p:sp>
      <p:sp>
        <p:nvSpPr>
          <p:cNvPr id="10" name="section-3">
            <a:extLst xmlns:a="http://schemas.openxmlformats.org/drawingml/2006/main">
              <a:ext uri="{FF2B5EF4-FFF2-40B4-BE49-F238E27FC236}">
                <a16:creationId xmlns:a16="http://schemas.microsoft.com/office/drawing/2014/main" id="{4D4A184B-FAC4-4806-BACE-7E8205EF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352550"/>
            <a:ext cx="4019550" cy="712470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FBFCFF"/>
          </a:solidFill>
          <a:ln xmlns:a="http://schemas.openxmlformats.org/drawingml/2006/main" w="13335">
            <a:solidFill>
              <a:srgbClr val="B9C8F8"/>
            </a:solidFill>
            <a:prstDash val="solid"/>
          </a:ln>
        </p:spPr>
      </p:sp>
      <p:sp>
        <p:nvSpPr>
          <p:cNvPr id="11" name="section-number-3">
            <a:extLst xmlns:a="http://schemas.openxmlformats.org/drawingml/2006/main">
              <a:ext uri="{FF2B5EF4-FFF2-40B4-BE49-F238E27FC236}">
                <a16:creationId xmlns:a16="http://schemas.microsoft.com/office/drawing/2014/main" id="{7AD7406E-D4D6-4F91-896D-C82247F1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1504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section-title-3">
            <a:extLst xmlns:a="http://schemas.openxmlformats.org/drawingml/2006/main">
              <a:ext uri="{FF2B5EF4-FFF2-40B4-BE49-F238E27FC236}">
                <a16:creationId xmlns:a16="http://schemas.microsoft.com/office/drawing/2014/main" id="{00547C28-59FE-4B21-9EE4-B27E5D3C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1476375"/>
            <a:ext cx="32099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5EEF"/>
                </a:solidFill>
              </a:defRPr>
            </a:pPr>
            <a:r>
              <a:rPr sz="1725" b="1">
                <a:solidFill>
                  <a:srgbClr val="155EEF"/>
                </a:solidFill>
              </a:rPr>
              <a:t>离线质量治理闭环</a:t>
            </a:r>
          </a:p>
        </p:txBody>
      </p:sp>
      <p:sp>
        <p:nvSpPr>
          <p:cNvPr id="13" name="anchor-l1">
            <a:extLst xmlns:a="http://schemas.openxmlformats.org/drawingml/2006/main">
              <a:ext uri="{FF2B5EF4-FFF2-40B4-BE49-F238E27FC236}">
                <a16:creationId xmlns:a16="http://schemas.microsoft.com/office/drawing/2014/main" id="{4214E5CE-1C04-4518-A9AC-7DA561DA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anchor-l2">
            <a:extLst xmlns:a="http://schemas.openxmlformats.org/drawingml/2006/main">
              <a:ext uri="{FF2B5EF4-FFF2-40B4-BE49-F238E27FC236}">
                <a16:creationId xmlns:a16="http://schemas.microsoft.com/office/drawing/2014/main" id="{70B82BA8-442D-4B75-9109-E9AF745D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anchor-l3">
            <a:extLst xmlns:a="http://schemas.openxmlformats.org/drawingml/2006/main">
              <a:ext uri="{FF2B5EF4-FFF2-40B4-BE49-F238E27FC236}">
                <a16:creationId xmlns:a16="http://schemas.microsoft.com/office/drawing/2014/main" id="{01252378-EC76-4D56-92D5-036B5695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anchor-l4">
            <a:extLst xmlns:a="http://schemas.openxmlformats.org/drawingml/2006/main">
              <a:ext uri="{FF2B5EF4-FFF2-40B4-BE49-F238E27FC236}">
                <a16:creationId xmlns:a16="http://schemas.microsoft.com/office/drawing/2014/main" id="{D887E103-9A41-4FE8-BB56-DDA4D4CA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anchor-gate1">
            <a:extLst xmlns:a="http://schemas.openxmlformats.org/drawingml/2006/main">
              <a:ext uri="{FF2B5EF4-FFF2-40B4-BE49-F238E27FC236}">
                <a16:creationId xmlns:a16="http://schemas.microsoft.com/office/drawing/2014/main" id="{FE4A6273-865E-4E3B-A918-F93972B3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anchor-gate2">
            <a:extLst xmlns:a="http://schemas.openxmlformats.org/drawingml/2006/main">
              <a:ext uri="{FF2B5EF4-FFF2-40B4-BE49-F238E27FC236}">
                <a16:creationId xmlns:a16="http://schemas.microsoft.com/office/drawing/2014/main" id="{173571C3-E916-48CB-8B85-256CA1D0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anchor-gate3">
            <a:extLst xmlns:a="http://schemas.openxmlformats.org/drawingml/2006/main">
              <a:ext uri="{FF2B5EF4-FFF2-40B4-BE49-F238E27FC236}">
                <a16:creationId xmlns:a16="http://schemas.microsoft.com/office/drawing/2014/main" id="{8536DB9E-C3E8-479C-BBAA-C0A8B2D8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anchor-pre">
            <a:extLst xmlns:a="http://schemas.openxmlformats.org/drawingml/2006/main">
              <a:ext uri="{FF2B5EF4-FFF2-40B4-BE49-F238E27FC236}">
                <a16:creationId xmlns:a16="http://schemas.microsoft.com/office/drawing/2014/main" id="{D795131B-D032-4687-A681-CB33F43A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anchor-mirror">
            <a:extLst xmlns:a="http://schemas.openxmlformats.org/drawingml/2006/main">
              <a:ext uri="{FF2B5EF4-FFF2-40B4-BE49-F238E27FC236}">
                <a16:creationId xmlns:a16="http://schemas.microsoft.com/office/drawing/2014/main" id="{C0639425-823A-4341-B8D2-7B22878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5750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anchor-planner">
            <a:extLst xmlns:a="http://schemas.openxmlformats.org/drawingml/2006/main">
              <a:ext uri="{FF2B5EF4-FFF2-40B4-BE49-F238E27FC236}">
                <a16:creationId xmlns:a16="http://schemas.microsoft.com/office/drawing/2014/main" id="{3204EB14-3BC4-4463-A58D-977A43BA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anchor-retriever">
            <a:extLst xmlns:a="http://schemas.openxmlformats.org/drawingml/2006/main">
              <a:ext uri="{FF2B5EF4-FFF2-40B4-BE49-F238E27FC236}">
                <a16:creationId xmlns:a16="http://schemas.microsoft.com/office/drawing/2014/main" id="{582368FC-3261-4353-B3B9-30183873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anchor-evidence">
            <a:extLst xmlns:a="http://schemas.openxmlformats.org/drawingml/2006/main">
              <a:ext uri="{FF2B5EF4-FFF2-40B4-BE49-F238E27FC236}">
                <a16:creationId xmlns:a16="http://schemas.microsoft.com/office/drawing/2014/main" id="{88D93AB9-B641-4256-A738-6DE38872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anchor-pack">
            <a:extLst xmlns:a="http://schemas.openxmlformats.org/drawingml/2006/main">
              <a:ext uri="{FF2B5EF4-FFF2-40B4-BE49-F238E27FC236}">
                <a16:creationId xmlns:a16="http://schemas.microsoft.com/office/drawing/2014/main" id="{397C9B12-58FF-4BD2-A3FA-3CD4679D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5750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anchor-provider">
            <a:extLst xmlns:a="http://schemas.openxmlformats.org/drawingml/2006/main">
              <a:ext uri="{FF2B5EF4-FFF2-40B4-BE49-F238E27FC236}">
                <a16:creationId xmlns:a16="http://schemas.microsoft.com/office/drawing/2014/main" id="{8481C7BF-3BAB-4B90-8C5F-3518FB17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575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anchor-finding">
            <a:extLst xmlns:a="http://schemas.openxmlformats.org/drawingml/2006/main">
              <a:ext uri="{FF2B5EF4-FFF2-40B4-BE49-F238E27FC236}">
                <a16:creationId xmlns:a16="http://schemas.microsoft.com/office/drawing/2014/main" id="{30E7A2A4-8FC7-4FD5-B87D-D2EEC5DA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962400"/>
            <a:ext cx="1562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anchor-decision">
            <a:extLst xmlns:a="http://schemas.openxmlformats.org/drawingml/2006/main">
              <a:ext uri="{FF2B5EF4-FFF2-40B4-BE49-F238E27FC236}">
                <a16:creationId xmlns:a16="http://schemas.microsoft.com/office/drawing/2014/main" id="{276F00C0-2836-4263-A7CF-1AB35150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8102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anchor-refine">
            <a:extLst xmlns:a="http://schemas.openxmlformats.org/drawingml/2006/main">
              <a:ext uri="{FF2B5EF4-FFF2-40B4-BE49-F238E27FC236}">
                <a16:creationId xmlns:a16="http://schemas.microsoft.com/office/drawing/2014/main" id="{9EE8FF6C-2A02-488C-A397-DED4AFA8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8580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anchor-rereview">
            <a:extLst xmlns:a="http://schemas.openxmlformats.org/drawingml/2006/main">
              <a:ext uri="{FF2B5EF4-FFF2-40B4-BE49-F238E27FC236}">
                <a16:creationId xmlns:a16="http://schemas.microsoft.com/office/drawing/2014/main" id="{3F7CF3E4-50DE-4247-9AEE-FDD3546A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7524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anchor-r0">
            <a:extLst xmlns:a="http://schemas.openxmlformats.org/drawingml/2006/main">
              <a:ext uri="{FF2B5EF4-FFF2-40B4-BE49-F238E27FC236}">
                <a16:creationId xmlns:a16="http://schemas.microsoft.com/office/drawing/2014/main" id="{52ED17B2-3C52-4B15-B635-1CEFE140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18859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anchor-r1">
            <a:extLst xmlns:a="http://schemas.openxmlformats.org/drawingml/2006/main">
              <a:ext uri="{FF2B5EF4-FFF2-40B4-BE49-F238E27FC236}">
                <a16:creationId xmlns:a16="http://schemas.microsoft.com/office/drawing/2014/main" id="{70952FBB-108E-4BEE-8DA4-4C122F2C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23431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anchor-r2">
            <a:extLst xmlns:a="http://schemas.openxmlformats.org/drawingml/2006/main">
              <a:ext uri="{FF2B5EF4-FFF2-40B4-BE49-F238E27FC236}">
                <a16:creationId xmlns:a16="http://schemas.microsoft.com/office/drawing/2014/main" id="{CF328CE9-9FED-49CB-A5E2-068AA596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28003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anchor-r3">
            <a:extLst xmlns:a="http://schemas.openxmlformats.org/drawingml/2006/main">
              <a:ext uri="{FF2B5EF4-FFF2-40B4-BE49-F238E27FC236}">
                <a16:creationId xmlns:a16="http://schemas.microsoft.com/office/drawing/2014/main" id="{340CFE2B-73E0-48BC-B025-4707F139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257550"/>
            <a:ext cx="3562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anchor-r4">
            <a:extLst xmlns:a="http://schemas.openxmlformats.org/drawingml/2006/main">
              <a:ext uri="{FF2B5EF4-FFF2-40B4-BE49-F238E27FC236}">
                <a16:creationId xmlns:a16="http://schemas.microsoft.com/office/drawing/2014/main" id="{B0E9E299-FE99-4DA3-AC38-535ABEF4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2481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anchor-r5">
            <a:extLst xmlns:a="http://schemas.openxmlformats.org/drawingml/2006/main">
              <a:ext uri="{FF2B5EF4-FFF2-40B4-BE49-F238E27FC236}">
                <a16:creationId xmlns:a16="http://schemas.microsoft.com/office/drawing/2014/main" id="{F6911D3C-9B01-4CA4-A0E6-DF8CBC24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7053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anchor-r6">
            <a:extLst xmlns:a="http://schemas.openxmlformats.org/drawingml/2006/main">
              <a:ext uri="{FF2B5EF4-FFF2-40B4-BE49-F238E27FC236}">
                <a16:creationId xmlns:a16="http://schemas.microsoft.com/office/drawing/2014/main" id="{980E62EC-2458-474A-A09F-2F0114AF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1625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anchor-r7">
            <a:extLst xmlns:a="http://schemas.openxmlformats.org/drawingml/2006/main">
              <a:ext uri="{FF2B5EF4-FFF2-40B4-BE49-F238E27FC236}">
                <a16:creationId xmlns:a16="http://schemas.microsoft.com/office/drawing/2014/main" id="{B21F5248-BB0B-4E09-B5EC-3D62B0AA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6197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anchor-r8">
            <a:extLst xmlns:a="http://schemas.openxmlformats.org/drawingml/2006/main">
              <a:ext uri="{FF2B5EF4-FFF2-40B4-BE49-F238E27FC236}">
                <a16:creationId xmlns:a16="http://schemas.microsoft.com/office/drawing/2014/main" id="{EDDA1341-4B0A-47B9-8B72-25A5F8BC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6153150"/>
            <a:ext cx="3562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anchor-r9">
            <a:extLst xmlns:a="http://schemas.openxmlformats.org/drawingml/2006/main">
              <a:ext uri="{FF2B5EF4-FFF2-40B4-BE49-F238E27FC236}">
                <a16:creationId xmlns:a16="http://schemas.microsoft.com/office/drawing/2014/main" id="{E6A0353B-2A5F-42F8-8EAF-4A54DC59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681990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anchor-r10">
            <a:extLst xmlns:a="http://schemas.openxmlformats.org/drawingml/2006/main">
              <a:ext uri="{FF2B5EF4-FFF2-40B4-BE49-F238E27FC236}">
                <a16:creationId xmlns:a16="http://schemas.microsoft.com/office/drawing/2014/main" id="{71CFCF07-BB59-46C0-8898-2C5F9258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2961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90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828800" y="26955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191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828800" y="388620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19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828800" y="56673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19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029200" y="32004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D3CEB"/>
            </a:solidFill>
            <a:prstDash val="solid"/>
            <a:headEnd type="triangle" w="sm" len="sm"/>
          </a:ln>
        </p:spPr>
      </p:cxnSp>
      <p:cxnSp>
        <p:nvCxnSpPr>
          <p:cNvPr id="19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315075" y="32004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D3CEB"/>
            </a:solidFill>
            <a:prstDash val="solid"/>
            <a:headEnd type="triangle" w="sm" len="sm"/>
          </a:ln>
        </p:spPr>
      </p:cxnSp>
      <p:cxnSp>
        <p:nvCxnSpPr>
          <p:cNvPr id="195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600950" y="32004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D3CEB"/>
            </a:solidFill>
            <a:prstDash val="solid"/>
            <a:headEnd type="triangle" w="sm" len="sm"/>
          </a:ln>
        </p:spPr>
      </p:cxnSp>
      <p:cxnSp>
        <p:nvCxnSpPr>
          <p:cNvPr id="196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886825" y="32004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D3CEB"/>
            </a:solidFill>
            <a:prstDash val="solid"/>
            <a:headEnd type="triangle" w="sm" len="sm"/>
          </a:ln>
        </p:spPr>
      </p:cxnSp>
      <p:cxnSp>
        <p:nvCxnSpPr>
          <p:cNvPr id="197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0172700" y="32004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D3CEB"/>
            </a:solidFill>
            <a:prstDash val="solid"/>
            <a:headEnd type="triangle" w="sm" len="sm"/>
          </a:ln>
        </p:spPr>
      </p:cxnSp>
      <p:cxnSp>
        <p:nvCxnSpPr>
          <p:cNvPr id="19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1458575" y="32004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D3CEB"/>
            </a:solidFill>
            <a:prstDash val="solid"/>
            <a:headEnd type="triangle" w="sm" len="sm"/>
          </a:ln>
        </p:spPr>
      </p:cxnSp>
      <p:cxnSp>
        <p:nvCxnSpPr>
          <p:cNvPr id="199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12325350" y="3543300"/>
            <a:ext cx="152400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00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2325350" y="5486400"/>
            <a:ext cx="152400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E8365D"/>
            </a:solidFill>
            <a:prstDash val="solid"/>
            <a:headEnd type="triangle" w="sm" len="sm"/>
          </a:ln>
        </p:spPr>
      </p:cxnSp>
      <p:cxnSp>
        <p:nvCxnSpPr>
          <p:cNvPr id="201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2477750" y="66865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8365D"/>
            </a:solidFill>
            <a:prstDash val="solid"/>
            <a:headEnd type="triangle" w="sm" len="sm"/>
          </a:ln>
        </p:spPr>
      </p:cxnSp>
      <p:cxnSp>
        <p:nvCxnSpPr>
          <p:cNvPr id="202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2477750" y="73723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8365D"/>
            </a:solidFill>
            <a:prstDash val="solid"/>
            <a:headEnd type="triangle" w="sm" len="sm"/>
          </a:ln>
        </p:spPr>
      </p:cxnSp>
      <p:cxnSp>
        <p:nvCxnSpPr>
          <p:cNvPr id="203" name=""/>
          <p:cNvCxnSpPr>
            <a:stCxn xmlns:a="http://schemas.openxmlformats.org/drawingml/2006/main" id="28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13477875" y="2066925"/>
            <a:ext cx="847725" cy="418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04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6106775" y="22479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05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6106775" y="27051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06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16106775" y="31623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07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6106775" y="4114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08" name=""/>
          <p:cNvCxnSpPr>
            <a:stCxn xmlns:a="http://schemas.openxmlformats.org/drawingml/2006/main" id="35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16106775" y="46101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09" name=""/>
          <p:cNvCxnSpPr>
            <a:stCxn xmlns:a="http://schemas.openxmlformats.org/drawingml/2006/main" id="36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6106775" y="50673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10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16106775" y="5524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11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16106775" y="59817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12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16106775" y="67056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13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16106775" y="71818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14" name=""/>
          <p:cNvCxnSpPr>
            <a:stCxn xmlns:a="http://schemas.openxmlformats.org/drawingml/2006/main" id="41" idx="1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H="1" flipV="1">
            <a:off x="7038975" y="3543300"/>
            <a:ext cx="7286625" cy="393382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headEnd type="triangle" w="sm" len="sm"/>
          </a:ln>
        </p:spPr>
      </p:cxnSp>
      <p:cxnSp>
        <p:nvCxnSpPr>
          <p:cNvPr id="215" name=""/>
          <p:cNvCxnSpPr>
            <a:stCxn xmlns:a="http://schemas.openxmlformats.org/drawingml/2006/main" id="17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4467225" y="2457450"/>
            <a:ext cx="1295400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D3CEB"/>
            </a:solidFill>
            <a:prstDash val="solid"/>
            <a:headEnd type="triangle" w="sm" len="sm"/>
          </a:ln>
        </p:spPr>
      </p:cxnSp>
      <p:cxnSp>
        <p:nvCxnSpPr>
          <p:cNvPr id="216" name=""/>
          <p:cNvCxnSpPr>
            <a:stCxn xmlns:a="http://schemas.openxmlformats.org/drawingml/2006/main" id="1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953375" y="2457450"/>
            <a:ext cx="371475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D3CEB"/>
            </a:solidFill>
            <a:prstDash val="solid"/>
            <a:headEnd type="triangle" w="sm" len="sm"/>
          </a:ln>
        </p:spPr>
      </p:cxnSp>
      <p:cxnSp>
        <p:nvCxnSpPr>
          <p:cNvPr id="217" name=""/>
          <p:cNvCxnSpPr>
            <a:stCxn xmlns:a="http://schemas.openxmlformats.org/drawingml/2006/main" id="19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0144125" y="2457450"/>
            <a:ext cx="2333625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D3CEB"/>
            </a:solidFill>
            <a:prstDash val="solid"/>
            <a:headEnd type="triangle" w="sm" len="sm"/>
          </a:ln>
        </p:spPr>
      </p:cxnSp>
      <p:sp>
        <p:nvSpPr>
          <p:cNvPr id="70" name="input-trigger">
            <a:extLst xmlns:a="http://schemas.openxmlformats.org/drawingml/2006/main">
              <a:ext uri="{FF2B5EF4-FFF2-40B4-BE49-F238E27FC236}">
                <a16:creationId xmlns:a16="http://schemas.microsoft.com/office/drawing/2014/main" id="{3017637D-F6DE-41D2-9FF5-AF7D6F5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224A"/>
                </a:solidFill>
              </a:defRPr>
            </a:pPr>
            <a:r>
              <a:rPr sz="1650" b="1">
                <a:solidFill>
                  <a:srgbClr val="19224A"/>
                </a:solidFill>
              </a:rPr>
              <a:t>MR / Push / 手动审查</a:t>
            </a:r>
          </a:p>
        </p:txBody>
      </p:sp>
      <p:sp>
        <p:nvSpPr>
          <p:cNvPr id="71" name="diff-input">
            <a:extLst xmlns:a="http://schemas.openxmlformats.org/drawingml/2006/main">
              <a:ext uri="{FF2B5EF4-FFF2-40B4-BE49-F238E27FC236}">
                <a16:creationId xmlns:a16="http://schemas.microsoft.com/office/drawing/2014/main" id="{6FABA0C7-7E94-4EC0-86B0-F49515C9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224A"/>
                </a:solidFill>
              </a:defRPr>
            </a:pPr>
            <a:r>
              <a:rPr sz="1650" b="1">
                <a:solidFill>
                  <a:srgbClr val="19224A"/>
                </a:solidFill>
              </a:rPr>
              <a:t>Diff / Changed Files</a:t>
            </a:r>
          </a:p>
        </p:txBody>
      </p:sp>
      <p:sp>
        <p:nvSpPr>
          <p:cNvPr id="72" name="rule-analysis">
            <a:extLst xmlns:a="http://schemas.openxmlformats.org/drawingml/2006/main">
              <a:ext uri="{FF2B5EF4-FFF2-40B4-BE49-F238E27FC236}">
                <a16:creationId xmlns:a16="http://schemas.microsoft.com/office/drawing/2014/main" id="{45864580-A82D-423D-9C17-E659E235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285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224A"/>
                </a:solidFill>
              </a:defRPr>
            </a:pPr>
            <a:r>
              <a:rPr sz="1725" b="1">
                <a:solidFill>
                  <a:srgbClr val="19224A"/>
                </a:solidFill>
              </a:rPr>
              <a:t>规则变更分析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02D4DEF-F68D-434D-9A67-73C5D3E1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B9C8F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EEF"/>
                </a:solidFill>
              </a:defRPr>
            </a:pPr>
            <a:r>
              <a:rPr sz="1125" b="1">
                <a:solidFill>
                  <a:srgbClr val="155EEF"/>
                </a:solidFill>
              </a:rPr>
              <a:t>DB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79ED8E-0E95-454C-AA51-C108CDC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09587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B9C8F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EEF"/>
                </a:solidFill>
              </a:defRPr>
            </a:pPr>
            <a:r>
              <a:rPr sz="1125" b="1">
                <a:solidFill>
                  <a:srgbClr val="155EEF"/>
                </a:solidFill>
              </a:rPr>
              <a:t>缓存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88AB4E3-9174-4E07-9AA7-12F67751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9587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B9C8F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EEF"/>
                </a:solidFill>
              </a:defRPr>
            </a:pPr>
            <a:r>
              <a:rPr sz="1125" b="1">
                <a:solidFill>
                  <a:srgbClr val="155EEF"/>
                </a:solidFill>
              </a:rPr>
              <a:t>MQ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6B5776-F7A1-4077-8B97-14D34EC9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09587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B9C8F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EEF"/>
                </a:solidFill>
              </a:defRPr>
            </a:pPr>
            <a:r>
              <a:rPr sz="1125" b="1">
                <a:solidFill>
                  <a:srgbClr val="155EEF"/>
                </a:solidFill>
              </a:rPr>
              <a:t>配置</a:t>
            </a:r>
          </a:p>
        </p:txBody>
      </p:sp>
      <p:sp>
        <p:nvSpPr>
          <p:cNvPr id="77" name="reminder-card">
            <a:extLst xmlns:a="http://schemas.openxmlformats.org/drawingml/2006/main">
              <a:ext uri="{FF2B5EF4-FFF2-40B4-BE49-F238E27FC236}">
                <a16:creationId xmlns:a16="http://schemas.microsoft.com/office/drawing/2014/main" id="{49B46531-AE56-4ADC-BAE4-7DED452C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224A"/>
                </a:solidFill>
              </a:defRPr>
            </a:pPr>
            <a:r>
              <a:rPr sz="1650" b="1">
                <a:solidFill>
                  <a:srgbClr val="19224A"/>
                </a:solidFill>
              </a:rPr>
              <a:t>结构化提醒卡片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8C5BD4-0C8D-45D0-BBDE-362E2F5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0"/>
            <a:ext cx="2905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EEF"/>
                </a:solidFill>
              </a:defRPr>
            </a:pPr>
            <a:r>
              <a:rPr sz="1425" b="1">
                <a:solidFill>
                  <a:srgbClr val="155EEF"/>
                </a:solidFill>
              </a:rPr>
              <a:t>模型关闭或失败时仍可提醒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F5C155-4CF1-4FB9-9CB7-17DE7B3D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224A"/>
                </a:solidFill>
              </a:defRPr>
            </a:pPr>
            <a:r>
              <a:rPr sz="1350" b="1">
                <a:solidFill>
                  <a:srgbClr val="19224A"/>
                </a:solidFill>
              </a:rPr>
              <a:t>全局 / 项目组开关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499E73-DDEE-4BAD-9923-84B7AEA1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224A"/>
                </a:solidFill>
              </a:defRPr>
            </a:pPr>
            <a:r>
              <a:rPr sz="1350" b="1">
                <a:solidFill>
                  <a:srgbClr val="19224A"/>
                </a:solidFill>
              </a:rPr>
              <a:t>MR / Push 策略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42076B2-6917-42FE-A34B-DC354122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224A"/>
                </a:solidFill>
              </a:defRPr>
            </a:pPr>
            <a:r>
              <a:rPr sz="1350" b="1">
                <a:solidFill>
                  <a:srgbClr val="19224A"/>
                </a:solidFill>
              </a:rPr>
              <a:t>Provider / Profile</a:t>
            </a:r>
          </a:p>
        </p:txBody>
      </p:sp>
      <p:sp>
        <p:nvSpPr>
          <p:cNvPr id="82" name="deterministic-preflight">
            <a:extLst xmlns:a="http://schemas.openxmlformats.org/drawingml/2006/main">
              <a:ext uri="{FF2B5EF4-FFF2-40B4-BE49-F238E27FC236}">
                <a16:creationId xmlns:a16="http://schemas.microsoft.com/office/drawing/2014/main" id="{EC2A1138-9BDC-4C4C-8C25-53BD7F3B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1123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确定性检查</a:t>
            </a:r>
          </a:p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Preflight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DC355EC-8F79-43BC-AC53-2F8EF596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3CEB"/>
          </a:solidFill>
          <a:ln xmlns:a="http://schemas.openxmlformats.org/drawingml/2006/main" w="9525">
            <a:solidFill>
              <a:srgbClr val="6D3C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规划中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5F5BD25-4DDA-4A9E-9222-7A419D06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57500"/>
            <a:ext cx="1123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Mirror +</a:t>
            </a:r>
          </a:p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Worktree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9BA82C7-A397-45D1-BB13-2FCF46C5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123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Context</a:t>
            </a:r>
          </a:p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Planner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77CD7D0-9060-41F0-8A9C-4EDA1410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1123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Local</a:t>
            </a:r>
          </a:p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Retriever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59F6859-1832-4EB7-8B5F-C1FC02E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1123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Evidence</a:t>
            </a:r>
          </a:p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Candidates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E59F9C2-29B9-40BF-8B1C-CBE13B74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57500"/>
            <a:ext cx="1123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Context</a:t>
            </a:r>
          </a:p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Pack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60CE4F7-42F4-4876-B9ED-AF101D5B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5750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143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224A"/>
                </a:solidFill>
              </a:defRPr>
            </a:pPr>
            <a:r>
              <a:rPr sz="1350" b="1">
                <a:solidFill>
                  <a:srgbClr val="19224A"/>
                </a:solidFill>
              </a:rPr>
              <a:t>多模型</a:t>
            </a:r>
          </a:p>
          <a:p xmlns:a="http://schemas.openxmlformats.org/drawingml/2006/main">
            <a:pPr algn="ctr">
              <a:defRPr sz="1350" b="1">
                <a:solidFill>
                  <a:srgbClr val="19224A"/>
                </a:solidFill>
              </a:defRPr>
            </a:pPr>
            <a:r>
              <a:rPr sz="1350" b="1">
                <a:solidFill>
                  <a:srgbClr val="19224A"/>
                </a:solidFill>
              </a:rPr>
              <a:t>Provider Review</a:t>
            </a:r>
          </a:p>
        </p:txBody>
      </p:sp>
      <p:sp>
        <p:nvSpPr>
          <p:cNvPr id="90" name="preflight-details">
            <a:extLst xmlns:a="http://schemas.openxmlformats.org/drawingml/2006/main">
              <a:ext uri="{FF2B5EF4-FFF2-40B4-BE49-F238E27FC236}">
                <a16:creationId xmlns:a16="http://schemas.microsoft.com/office/drawing/2014/main" id="{73123EF3-DDAE-4D46-88B1-C9A00208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5762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F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D693921-E53B-4E0C-BF87-159FA95A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876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24A"/>
                </a:solidFill>
              </a:defRPr>
            </a:pPr>
            <a:r>
              <a:rPr sz="1125" b="1">
                <a:solidFill>
                  <a:srgbClr val="19224A"/>
                </a:solidFill>
              </a:rPr>
              <a:t>SECRET_SCAN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66E9255-AAFF-409F-A471-A10ABC80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333875"/>
            <a:ext cx="16573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C5845E-C013-48CA-8F22-25182E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3529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4A"/>
                </a:solidFill>
              </a:defRPr>
            </a:pPr>
            <a:r>
              <a:rPr sz="1125" b="0">
                <a:solidFill>
                  <a:srgbClr val="19224A"/>
                </a:solidFill>
              </a:rPr>
              <a:t>低成本硬证据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49D0259-0EAC-4A1E-BAF1-619DBCF5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16573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F3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8B646CA-047F-44AE-B1DD-CB8F5B79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291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4A"/>
                </a:solidFill>
              </a:defRPr>
            </a:pPr>
            <a:r>
              <a:rPr sz="1125" b="0">
                <a:solidFill>
                  <a:srgbClr val="19224A"/>
                </a:solidFill>
              </a:rPr>
              <a:t>失败默认继续 Review</a:t>
            </a:r>
          </a:p>
        </p:txBody>
      </p:sp>
      <p:sp>
        <p:nvSpPr>
          <p:cNvPr id="96" name="retriever-details">
            <a:extLst xmlns:a="http://schemas.openxmlformats.org/drawingml/2006/main">
              <a:ext uri="{FF2B5EF4-FFF2-40B4-BE49-F238E27FC236}">
                <a16:creationId xmlns:a16="http://schemas.microsoft.com/office/drawing/2014/main" id="{986BA69C-49B5-48A2-9AC4-479891D7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000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F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C2049A0-608E-4DC3-926E-E84A8462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47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4A"/>
                </a:solidFill>
              </a:defRPr>
            </a:pPr>
            <a:r>
              <a:rPr sz="1125" b="0">
                <a:solidFill>
                  <a:srgbClr val="19224A"/>
                </a:solidFill>
              </a:rPr>
              <a:t>caller / callee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27800D6-B6E9-438E-87E0-D28066B9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48150"/>
            <a:ext cx="18478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F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9AEE063-D6A7-42BE-A13F-E7AFD826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1847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4A"/>
                </a:solidFill>
              </a:defRPr>
            </a:pPr>
            <a:r>
              <a:rPr sz="1125" b="0">
                <a:solidFill>
                  <a:srgbClr val="19224A"/>
                </a:solidFill>
              </a:rPr>
              <a:t>接口实现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5EE07E6-6EEE-4556-A10A-46FC667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38675"/>
            <a:ext cx="18478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A357B50-8BA2-449D-AF2E-4F58D8DC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57725"/>
            <a:ext cx="1847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4A"/>
                </a:solidFill>
              </a:defRPr>
            </a:pPr>
            <a:r>
              <a:rPr sz="1125" b="0">
                <a:solidFill>
                  <a:srgbClr val="19224A"/>
                </a:solidFill>
              </a:rPr>
              <a:t>Service → Mapper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4E3512C-2DCA-4B0F-8A94-33CE72E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18478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F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1835DA-E1E5-43D0-9D43-BB7E5444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1847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4A"/>
                </a:solidFill>
              </a:defRPr>
            </a:pPr>
            <a:r>
              <a:rPr sz="1125" b="0">
                <a:solidFill>
                  <a:srgbClr val="19224A"/>
                </a:solidFill>
              </a:rPr>
              <a:t>DTO / 字段引用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5D8A14-4545-46AE-ADDF-2CFD391C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19725"/>
            <a:ext cx="18478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F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895467D-1AEE-474D-85AF-5CC6078A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38775"/>
            <a:ext cx="1847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4A"/>
                </a:solidFill>
              </a:defRPr>
            </a:pPr>
            <a:r>
              <a:rPr sz="1125" b="0">
                <a:solidFill>
                  <a:srgbClr val="19224A"/>
                </a:solidFill>
              </a:rPr>
              <a:t>DB / 缓存链路</a:t>
            </a:r>
          </a:p>
        </p:txBody>
      </p:sp>
      <p:sp>
        <p:nvSpPr>
          <p:cNvPr id="106" name="context-pack-layers">
            <a:extLst xmlns:a="http://schemas.openxmlformats.org/drawingml/2006/main">
              <a:ext uri="{FF2B5EF4-FFF2-40B4-BE49-F238E27FC236}">
                <a16:creationId xmlns:a16="http://schemas.microsoft.com/office/drawing/2014/main" id="{783EBFCE-2F8C-4940-B127-1D0635AB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28098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F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8442BDC-8867-4883-8799-FEDE0597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76675"/>
            <a:ext cx="26574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4A"/>
                </a:solidFill>
              </a:defRPr>
            </a:pPr>
            <a:r>
              <a:rPr sz="1125" b="0">
                <a:solidFill>
                  <a:srgbClr val="19224A"/>
                </a:solidFill>
              </a:rPr>
              <a:t>必保：Diff / 变更符号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33671D6-7056-4DEB-A671-314B3AAA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29125"/>
            <a:ext cx="2657475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F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E99AFCC-C2AE-4337-8E99-09C59853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48175"/>
            <a:ext cx="26574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4A"/>
                </a:solidFill>
              </a:defRPr>
            </a:pPr>
            <a:r>
              <a:rPr sz="1125" b="0">
                <a:solidFill>
                  <a:srgbClr val="19224A"/>
                </a:solidFill>
              </a:rPr>
              <a:t>优先：调用链 / Mapper / 缓存证据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08712A4-FB54-470F-A6C1-C8DB8F71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00625"/>
            <a:ext cx="2657475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F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B2AEA4B-59DE-4662-A4A1-E1F6394A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9675"/>
            <a:ext cx="26574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224A"/>
                </a:solidFill>
              </a:defRPr>
            </a:pPr>
            <a:r>
              <a:rPr sz="1125" b="0">
                <a:solidFill>
                  <a:srgbClr val="19224A"/>
                </a:solidFill>
              </a:rPr>
              <a:t>摘要：notInjectedEvidence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852A77A-AA3D-4356-90E5-29EF60C0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531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3CEB"/>
                </a:solidFill>
              </a:defRPr>
            </a:pPr>
            <a:r>
              <a:rPr sz="1200" b="1">
                <a:solidFill>
                  <a:srgbClr val="6D3CEB"/>
                </a:solidFill>
              </a:rPr>
              <a:t>当前重点：Java / Spring / MyBatis</a:t>
            </a:r>
          </a:p>
          <a:p xmlns:a="http://schemas.openxmlformats.org/drawingml/2006/main">
            <a:pPr algn="ctr">
              <a:defRPr sz="1200" b="1">
                <a:solidFill>
                  <a:srgbClr val="6D3CEB"/>
                </a:solidFill>
              </a:defRPr>
            </a:pPr>
            <a:r>
              <a:rPr sz="1200" b="1">
                <a:solidFill>
                  <a:srgbClr val="6D3CEB"/>
                </a:solidFill>
              </a:rPr>
              <a:t>多端专项能力按 Evaluation Case 逐步扩展</a:t>
            </a:r>
          </a:p>
        </p:txBody>
      </p:sp>
      <p:sp>
        <p:nvSpPr>
          <p:cNvPr id="113" name="finding-output">
            <a:extLst xmlns:a="http://schemas.openxmlformats.org/drawingml/2006/main">
              <a:ext uri="{FF2B5EF4-FFF2-40B4-BE49-F238E27FC236}">
                <a16:creationId xmlns:a16="http://schemas.microsoft.com/office/drawing/2014/main" id="{9CEB95B6-4CC3-4ACA-BA10-E8355448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962400"/>
            <a:ext cx="15621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F6"/>
          </a:solidFill>
          <a:ln xmlns:a="http://schemas.openxmlformats.org/drawingml/2006/main" w="11430">
            <a:solidFill>
              <a:srgbClr val="F2A3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365D"/>
                </a:solidFill>
              </a:defRPr>
            </a:pPr>
            <a:r>
              <a:rPr sz="1125" b="1">
                <a:solidFill>
                  <a:srgbClr val="E8365D"/>
                </a:solidFill>
              </a:rPr>
              <a:t>Finding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1">
                <a:solidFill>
                  <a:srgbClr val="E8365D"/>
                </a:solidFill>
              </a:defRPr>
            </a:pPr>
            <a:r>
              <a:rPr sz="1125" b="1">
                <a:solidFill>
                  <a:srgbClr val="E8365D"/>
                </a:solidFill>
              </a:rPr>
              <a:t>severity</a:t>
            </a:r>
          </a:p>
          <a:p xmlns:a="http://schemas.openxmlformats.org/drawingml/2006/main">
            <a:pPr algn="l">
              <a:defRPr sz="1125" b="1">
                <a:solidFill>
                  <a:srgbClr val="E8365D"/>
                </a:solidFill>
              </a:defRPr>
            </a:pPr>
            <a:r>
              <a:rPr sz="1125" b="1">
                <a:solidFill>
                  <a:srgbClr val="E8365D"/>
                </a:solidFill>
              </a:rPr>
              <a:t>confidence</a:t>
            </a:r>
          </a:p>
          <a:p xmlns:a="http://schemas.openxmlformats.org/drawingml/2006/main">
            <a:pPr algn="l">
              <a:defRPr sz="1125" b="1">
                <a:solidFill>
                  <a:srgbClr val="E8365D"/>
                </a:solidFill>
              </a:defRPr>
            </a:pPr>
            <a:r>
              <a:rPr sz="1125" b="1">
                <a:solidFill>
                  <a:srgbClr val="E8365D"/>
                </a:solidFill>
              </a:rPr>
              <a:t>contextStatus</a:t>
            </a:r>
          </a:p>
          <a:p xmlns:a="http://schemas.openxmlformats.org/drawingml/2006/main">
            <a:pPr algn="l">
              <a:defRPr sz="1125" b="1">
                <a:solidFill>
                  <a:srgbClr val="E8365D"/>
                </a:solidFill>
              </a:defRPr>
            </a:pPr>
            <a:r>
              <a:rPr sz="1125" b="1">
                <a:solidFill>
                  <a:srgbClr val="E8365D"/>
                </a:solidFill>
              </a:rPr>
              <a:t>evidence</a:t>
            </a:r>
          </a:p>
          <a:p xmlns:a="http://schemas.openxmlformats.org/drawingml/2006/main">
            <a:pPr algn="l">
              <a:defRPr sz="1125" b="1">
                <a:solidFill>
                  <a:srgbClr val="E8365D"/>
                </a:solidFill>
              </a:defRPr>
            </a:pPr>
            <a:r>
              <a:rPr sz="1125" b="1">
                <a:solidFill>
                  <a:srgbClr val="E8365D"/>
                </a:solidFill>
              </a:rPr>
              <a:t>missingContext</a:t>
            </a:r>
          </a:p>
        </p:txBody>
      </p:sp>
      <p:sp>
        <p:nvSpPr>
          <p:cNvPr id="114" name="not-found-warning">
            <a:extLst xmlns:a="http://schemas.openxmlformats.org/drawingml/2006/main">
              <a:ext uri="{FF2B5EF4-FFF2-40B4-BE49-F238E27FC236}">
                <a16:creationId xmlns:a16="http://schemas.microsoft.com/office/drawing/2014/main" id="{A81743E2-E26A-411F-8564-88397FF8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095750"/>
            <a:ext cx="628650" cy="12382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4F6"/>
          </a:solidFill>
          <a:ln xmlns:a="http://schemas.openxmlformats.org/drawingml/2006/main" w="11430">
            <a:solidFill>
              <a:srgbClr val="F2A3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365D"/>
                </a:solidFill>
              </a:defRPr>
            </a:pPr>
            <a:r>
              <a:rPr sz="900" b="1">
                <a:solidFill>
                  <a:srgbClr val="E8365D"/>
                </a:solidFill>
              </a:rPr>
              <a:t>未命中 / 被裁剪</a:t>
            </a:r>
          </a:p>
          <a:p xmlns:a="http://schemas.openxmlformats.org/drawingml/2006/main">
            <a:pPr algn="ctr">
              <a:defRPr sz="900" b="1">
                <a:solidFill>
                  <a:srgbClr val="E8365D"/>
                </a:solidFill>
              </a:defRPr>
            </a:pPr>
            <a:r>
              <a:rPr sz="900" b="1">
                <a:solidFill>
                  <a:srgbClr val="E8365D"/>
                </a:solidFill>
              </a:rPr>
              <a:t>不等于</a:t>
            </a:r>
          </a:p>
          <a:p xmlns:a="http://schemas.openxmlformats.org/drawingml/2006/main">
            <a:pPr algn="ctr">
              <a:defRPr sz="900" b="1">
                <a:solidFill>
                  <a:srgbClr val="E8365D"/>
                </a:solidFill>
              </a:defRPr>
            </a:pPr>
            <a:r>
              <a:rPr sz="900" b="1">
                <a:solidFill>
                  <a:srgbClr val="E8365D"/>
                </a:solidFill>
              </a:rPr>
              <a:t>不存在风险</a:t>
            </a:r>
          </a:p>
        </p:txBody>
      </p:sp>
      <p:sp>
        <p:nvSpPr>
          <p:cNvPr id="115" name="finding-decision">
            <a:extLst xmlns:a="http://schemas.openxmlformats.org/drawingml/2006/main">
              <a:ext uri="{FF2B5EF4-FFF2-40B4-BE49-F238E27FC236}">
                <a16:creationId xmlns:a16="http://schemas.microsoft.com/office/drawing/2014/main" id="{9B3035B2-2F4D-4014-97C6-578171F8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810250"/>
            <a:ext cx="200025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4F6"/>
          </a:solidFill>
          <a:ln xmlns:a="http://schemas.openxmlformats.org/drawingml/2006/main" w="11430">
            <a:solidFill>
              <a:srgbClr val="E8365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8365D"/>
                </a:solidFill>
              </a:defRPr>
            </a:pPr>
            <a:r>
              <a:rPr sz="1275" b="1">
                <a:solidFill>
                  <a:srgbClr val="E8365D"/>
                </a:solidFill>
              </a:rPr>
              <a:t>高影响且</a:t>
            </a:r>
          </a:p>
          <a:p xmlns:a="http://schemas.openxmlformats.org/drawingml/2006/main">
            <a:pPr algn="ctr">
              <a:defRPr sz="1275" b="1">
                <a:solidFill>
                  <a:srgbClr val="E8365D"/>
                </a:solidFill>
              </a:defRPr>
            </a:pPr>
            <a:r>
              <a:rPr sz="1275" b="1">
                <a:solidFill>
                  <a:srgbClr val="E8365D"/>
                </a:solidFill>
              </a:rPr>
              <a:t>上下文不足？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666749C-BC22-4732-848D-E7640C9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9055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224A"/>
                </a:solidFill>
              </a:defRPr>
            </a:pPr>
            <a:r>
              <a:rPr sz="1200" b="1">
                <a:solidFill>
                  <a:srgbClr val="19224A"/>
                </a:solidFill>
              </a:rPr>
              <a:t>否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F486270-1F63-4188-AAC3-E9079481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61987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365D"/>
                </a:solidFill>
              </a:defRPr>
            </a:pPr>
            <a:r>
              <a:rPr sz="1200" b="1">
                <a:solidFill>
                  <a:srgbClr val="E8365D"/>
                </a:solidFill>
              </a:rPr>
              <a:t>是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C0DB6A6-53D3-4696-B14F-23BF1629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858000"/>
            <a:ext cx="2000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F6"/>
          </a:solidFill>
          <a:ln xmlns:a="http://schemas.openxmlformats.org/drawingml/2006/main" w="11430">
            <a:solidFill>
              <a:srgbClr val="F2A3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365D"/>
                </a:solidFill>
              </a:defRPr>
            </a:pPr>
            <a:r>
              <a:rPr sz="1200" b="1">
                <a:solidFill>
                  <a:srgbClr val="E8365D"/>
                </a:solidFill>
              </a:rPr>
              <a:t>Finding 级定向补证据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0E36169-C4C2-4D98-AE42-BB36A22C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7524750"/>
            <a:ext cx="2000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F6"/>
          </a:solidFill>
          <a:ln xmlns:a="http://schemas.openxmlformats.org/drawingml/2006/main" w="11430">
            <a:solidFill>
              <a:srgbClr val="F2A3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365D"/>
                </a:solidFill>
              </a:defRPr>
            </a:pPr>
            <a:r>
              <a:rPr sz="1200" b="1">
                <a:solidFill>
                  <a:srgbClr val="E8365D"/>
                </a:solidFill>
              </a:rPr>
              <a:t>可选二次模型复评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64F7E2F-F29F-4316-ADC0-8470FA55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41045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3CEB"/>
          </a:solidFill>
          <a:ln xmlns:a="http://schemas.openxmlformats.org/drawingml/2006/main" w="9525">
            <a:solidFill>
              <a:srgbClr val="6D3C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规划中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7FE5976-8B3C-4123-8E23-871AE1D3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8096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8365D"/>
                </a:solidFill>
              </a:defRPr>
            </a:pPr>
            <a:r>
              <a:rPr sz="975" b="1">
                <a:solidFill>
                  <a:srgbClr val="E8365D"/>
                </a:solidFill>
              </a:rPr>
              <a:t>保留原 Finding，不静默覆盖</a:t>
            </a:r>
          </a:p>
        </p:txBody>
      </p:sp>
      <p:sp>
        <p:nvSpPr>
          <p:cNvPr id="122" name="offline-0">
            <a:extLst xmlns:a="http://schemas.openxmlformats.org/drawingml/2006/main">
              <a:ext uri="{FF2B5EF4-FFF2-40B4-BE49-F238E27FC236}">
                <a16:creationId xmlns:a16="http://schemas.microsoft.com/office/drawing/2014/main" id="{9E434156-E87E-46D3-9A3B-99F6F52C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1885950"/>
            <a:ext cx="3562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人工标注 Evaluation Case</a:t>
            </a:r>
          </a:p>
        </p:txBody>
      </p:sp>
      <p:sp>
        <p:nvSpPr>
          <p:cNvPr id="123" name="offline-1">
            <a:extLst xmlns:a="http://schemas.openxmlformats.org/drawingml/2006/main">
              <a:ext uri="{FF2B5EF4-FFF2-40B4-BE49-F238E27FC236}">
                <a16:creationId xmlns:a16="http://schemas.microsoft.com/office/drawing/2014/main" id="{9D37C3E0-BD76-4541-ADA5-405750E6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2343150"/>
            <a:ext cx="3562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规则缺口归因</a:t>
            </a:r>
          </a:p>
        </p:txBody>
      </p:sp>
      <p:sp>
        <p:nvSpPr>
          <p:cNvPr id="124" name="offline-2">
            <a:extLst xmlns:a="http://schemas.openxmlformats.org/drawingml/2006/main">
              <a:ext uri="{FF2B5EF4-FFF2-40B4-BE49-F238E27FC236}">
                <a16:creationId xmlns:a16="http://schemas.microsoft.com/office/drawing/2014/main" id="{60CA8CE2-ED28-4A0F-BC1E-07D95BFA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2800350"/>
            <a:ext cx="3562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质量看板</a:t>
            </a:r>
          </a:p>
        </p:txBody>
      </p:sp>
      <p:sp>
        <p:nvSpPr>
          <p:cNvPr id="125" name="offline-3">
            <a:extLst xmlns:a="http://schemas.openxmlformats.org/drawingml/2006/main">
              <a:ext uri="{FF2B5EF4-FFF2-40B4-BE49-F238E27FC236}">
                <a16:creationId xmlns:a16="http://schemas.microsoft.com/office/drawing/2014/main" id="{C29ED202-1BBA-4246-A21D-3DA5A464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257550"/>
            <a:ext cx="13144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治理候选推荐</a:t>
            </a:r>
          </a:p>
        </p:txBody>
      </p:sp>
      <p:sp>
        <p:nvSpPr>
          <p:cNvPr id="126" name="offline-4">
            <a:extLst xmlns:a="http://schemas.openxmlformats.org/drawingml/2006/main">
              <a:ext uri="{FF2B5EF4-FFF2-40B4-BE49-F238E27FC236}">
                <a16:creationId xmlns:a16="http://schemas.microsoft.com/office/drawing/2014/main" id="{C9928031-329A-462E-B60E-7078353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248150"/>
            <a:ext cx="3562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DRAFT 验收记录</a:t>
            </a:r>
          </a:p>
        </p:txBody>
      </p:sp>
      <p:sp>
        <p:nvSpPr>
          <p:cNvPr id="127" name="offline-5">
            <a:extLst xmlns:a="http://schemas.openxmlformats.org/drawingml/2006/main">
              <a:ext uri="{FF2B5EF4-FFF2-40B4-BE49-F238E27FC236}">
                <a16:creationId xmlns:a16="http://schemas.microsoft.com/office/drawing/2014/main" id="{1C6D4EB6-5A72-41F5-86D4-65F2CD4B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705350"/>
            <a:ext cx="3562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人工确认 ADMITTED</a:t>
            </a:r>
          </a:p>
        </p:txBody>
      </p:sp>
      <p:sp>
        <p:nvSpPr>
          <p:cNvPr id="128" name="offline-6">
            <a:extLst xmlns:a="http://schemas.openxmlformats.org/drawingml/2006/main">
              <a:ext uri="{FF2B5EF4-FFF2-40B4-BE49-F238E27FC236}">
                <a16:creationId xmlns:a16="http://schemas.microsoft.com/office/drawing/2014/main" id="{4B6A7C58-8C9E-4242-97D0-DDDF6264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162550"/>
            <a:ext cx="3562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建立 Baseline Run</a:t>
            </a:r>
          </a:p>
        </p:txBody>
      </p:sp>
      <p:sp>
        <p:nvSpPr>
          <p:cNvPr id="129" name="offline-7">
            <a:extLst xmlns:a="http://schemas.openxmlformats.org/drawingml/2006/main">
              <a:ext uri="{FF2B5EF4-FFF2-40B4-BE49-F238E27FC236}">
                <a16:creationId xmlns:a16="http://schemas.microsoft.com/office/drawing/2014/main" id="{9B7B64EF-3B00-486D-8BD3-30F30B15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619750"/>
            <a:ext cx="3562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224A"/>
                </a:solidFill>
              </a:defRPr>
            </a:pPr>
            <a:r>
              <a:rPr sz="1125" b="1">
                <a:solidFill>
                  <a:srgbClr val="19224A"/>
                </a:solidFill>
              </a:rPr>
              <a:t>生成 Agent Brief / gateId 起手式 Prompt</a:t>
            </a:r>
          </a:p>
        </p:txBody>
      </p:sp>
      <p:sp>
        <p:nvSpPr>
          <p:cNvPr id="130" name="offline-8">
            <a:extLst xmlns:a="http://schemas.openxmlformats.org/drawingml/2006/main">
              <a:ext uri="{FF2B5EF4-FFF2-40B4-BE49-F238E27FC236}">
                <a16:creationId xmlns:a16="http://schemas.microsoft.com/office/drawing/2014/main" id="{D6733E7B-740B-4BEC-938E-990FC413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6153150"/>
            <a:ext cx="35623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11430">
            <a:solidFill>
              <a:srgbClr val="155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一次只改一个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Planner / Retriever / Rule / Tool</a:t>
            </a:r>
          </a:p>
        </p:txBody>
      </p:sp>
      <p:sp>
        <p:nvSpPr>
          <p:cNvPr id="131" name="offline-9">
            <a:extLst xmlns:a="http://schemas.openxmlformats.org/drawingml/2006/main">
              <a:ext uri="{FF2B5EF4-FFF2-40B4-BE49-F238E27FC236}">
                <a16:creationId xmlns:a16="http://schemas.microsoft.com/office/drawing/2014/main" id="{CA504EE9-3080-4BAF-B79D-A3C8A0E0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6819900"/>
            <a:ext cx="3562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执行 Candidate Run</a:t>
            </a:r>
          </a:p>
        </p:txBody>
      </p:sp>
      <p:sp>
        <p:nvSpPr>
          <p:cNvPr id="132" name="offline-10">
            <a:extLst xmlns:a="http://schemas.openxmlformats.org/drawingml/2006/main">
              <a:ext uri="{FF2B5EF4-FFF2-40B4-BE49-F238E27FC236}">
                <a16:creationId xmlns:a16="http://schemas.microsoft.com/office/drawing/2014/main" id="{768282BD-547B-4488-92DD-31905782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296150"/>
            <a:ext cx="3562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224A"/>
                </a:solidFill>
              </a:defRPr>
            </a:pPr>
            <a:r>
              <a:rPr sz="1275" b="1">
                <a:solidFill>
                  <a:srgbClr val="19224A"/>
                </a:solidFill>
              </a:rPr>
              <a:t>退出验收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45BAA43-8975-4994-AF34-F5A4CAA0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143250"/>
            <a:ext cx="685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3CEB"/>
          </a:solidFill>
          <a:ln xmlns:a="http://schemas.openxmlformats.org/drawingml/2006/main" w="9525">
            <a:solidFill>
              <a:srgbClr val="6D3C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规划中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DD8079A-8731-43DD-A6D0-54EB3899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0" y="5524500"/>
            <a:ext cx="685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3CEB"/>
          </a:solidFill>
          <a:ln xmlns:a="http://schemas.openxmlformats.org/drawingml/2006/main" w="9525">
            <a:solidFill>
              <a:srgbClr val="6D3C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规划中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6D8B8B6-32C7-4522-826B-7F7485F4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0" y="6724650"/>
            <a:ext cx="685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3CEB"/>
          </a:solidFill>
          <a:ln xmlns:a="http://schemas.openxmlformats.org/drawingml/2006/main" w="9525">
            <a:solidFill>
              <a:srgbClr val="6D3C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规划中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14103CD-685C-4F04-B1B1-FD301ED4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295650"/>
            <a:ext cx="2095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9525">
            <a:solidFill>
              <a:srgbClr val="F2A3B7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8365D"/>
                </a:solidFill>
              </a:defRPr>
            </a:pPr>
            <a:r>
              <a:rPr sz="825" b="1">
                <a:solidFill>
                  <a:srgbClr val="E8365D"/>
                </a:solidFill>
              </a:rPr>
              <a:t>RECOMMENDED｜样本证明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460BC0B-5F41-4F91-AEEC-09AE52A0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562350"/>
            <a:ext cx="1809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6C76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6900"/>
                </a:solidFill>
              </a:defRPr>
            </a:pPr>
            <a:r>
              <a:rPr sz="825" b="1">
                <a:solidFill>
                  <a:srgbClr val="B46900"/>
                </a:solidFill>
              </a:rPr>
              <a:t>WATCH｜继续观察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85E917D-EC44-4BD6-9424-09DFACA5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829050"/>
            <a:ext cx="1809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3FB"/>
          </a:solidFill>
          <a:ln xmlns:a="http://schemas.openxmlformats.org/drawingml/2006/main" w="9525">
            <a:solidFill>
              <a:srgbClr val="D9E1F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56080"/>
                </a:solidFill>
              </a:defRPr>
            </a:pPr>
            <a:r>
              <a:rPr sz="825" b="1">
                <a:solidFill>
                  <a:srgbClr val="556080"/>
                </a:solidFill>
              </a:rPr>
              <a:t>NOT_NOW｜暂不处理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0CF232A-0646-4C98-944C-51AF06F1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779145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5EEF"/>
                </a:solidFill>
              </a:defRPr>
            </a:pPr>
            <a:r>
              <a:rPr sz="1275" b="1">
                <a:solidFill>
                  <a:srgbClr val="155EEF"/>
                </a:solidFill>
              </a:rPr>
              <a:t>没有 Evaluation Case 证明，不进入实现主线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30C1942-D1E5-47CA-B245-AD8FE9A0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8077200"/>
            <a:ext cx="3505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6080"/>
                </a:solidFill>
              </a:defRPr>
            </a:pPr>
            <a:r>
              <a:rPr sz="1050" b="1">
                <a:solidFill>
                  <a:srgbClr val="556080"/>
                </a:solidFill>
              </a:rPr>
              <a:t>平台自动排序，人决定准入，Agent 只执行已准入任务</a:t>
            </a:r>
          </a:p>
        </p:txBody>
      </p:sp>
      <p:sp>
        <p:nvSpPr>
          <p:cNvPr id="141" name="human-boundary">
            <a:extLst xmlns:a="http://schemas.openxmlformats.org/drawingml/2006/main">
              <a:ext uri="{FF2B5EF4-FFF2-40B4-BE49-F238E27FC236}">
                <a16:creationId xmlns:a16="http://schemas.microsoft.com/office/drawing/2014/main" id="{735A3591-66A9-434C-8521-C638F0FC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0"/>
            <a:ext cx="12649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C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826CCEE-6347-411B-A894-78D96B20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7439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5EEF"/>
                </a:solidFill>
              </a:defRPr>
            </a:pPr>
            <a:r>
              <a:rPr sz="2025" b="1">
                <a:solidFill>
                  <a:srgbClr val="155EEF"/>
                </a:solidFill>
              </a:rPr>
              <a:t>人工控制边界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79F08BF-D85F-4C1B-A5F7-A671BEF4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277350"/>
            <a:ext cx="2238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224A"/>
                </a:solidFill>
              </a:defRPr>
            </a:pPr>
            <a:r>
              <a:rPr sz="1200" b="1">
                <a:solidFill>
                  <a:srgbClr val="19224A"/>
                </a:solidFill>
              </a:rPr>
              <a:t>不自动修改 Prompt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28055F5-39F6-4FE1-A18C-F175723E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9277350"/>
            <a:ext cx="2238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224A"/>
                </a:solidFill>
              </a:defRPr>
            </a:pPr>
            <a:r>
              <a:rPr sz="1200" b="1">
                <a:solidFill>
                  <a:srgbClr val="19224A"/>
                </a:solidFill>
              </a:rPr>
              <a:t>不自动降级或忽略 Finding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1972CB7-6720-404A-B7FA-F6D52503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277350"/>
            <a:ext cx="2238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224A"/>
                </a:solidFill>
              </a:defRPr>
            </a:pPr>
            <a:r>
              <a:rPr sz="1200" b="1">
                <a:solidFill>
                  <a:srgbClr val="19224A"/>
                </a:solidFill>
              </a:rPr>
              <a:t>不自动启用项目策略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73F59BC-9E81-4DA6-A50C-18A1FC78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9277350"/>
            <a:ext cx="2238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224A"/>
                </a:solidFill>
              </a:defRPr>
            </a:pPr>
            <a:r>
              <a:rPr sz="1200" b="1">
                <a:solidFill>
                  <a:srgbClr val="19224A"/>
                </a:solidFill>
              </a:rPr>
              <a:t>不自动准入治理候选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C45869E-112B-4ABA-8E94-C170D56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277350"/>
            <a:ext cx="2238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F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224A"/>
                </a:solidFill>
              </a:defRPr>
            </a:pPr>
            <a:r>
              <a:rPr sz="1200" b="1">
                <a:solidFill>
                  <a:srgbClr val="19224A"/>
                </a:solidFill>
              </a:rPr>
              <a:t>验收记录不是合并门禁</a:t>
            </a:r>
          </a:p>
        </p:txBody>
      </p:sp>
      <p:sp>
        <p:nvSpPr>
          <p:cNvPr id="148" name="closing-slogan">
            <a:extLst xmlns:a="http://schemas.openxmlformats.org/drawingml/2006/main">
              <a:ext uri="{FF2B5EF4-FFF2-40B4-BE49-F238E27FC236}">
                <a16:creationId xmlns:a16="http://schemas.microsoft.com/office/drawing/2014/main" id="{AB68FB7D-3384-4D73-930A-244AEA43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8667750"/>
            <a:ext cx="51244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6D3CEB"/>
          </a:solidFill>
          <a:ln xmlns:a="http://schemas.openxmlformats.org/drawingml/2006/main" w="0">
            <a:solidFill>
              <a:srgbClr val="6D3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先查证据，再让模型判断；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用评估证明改动真的更准</a:t>
            </a:r>
          </a:p>
        </p:txBody>
      </p:sp>
    </p:spTree>
    <p:extLst>
      <p:ext uri="{BB962C8B-B14F-4D97-AF65-F5344CB8AC3E}">
        <p14:creationId xmlns:p14="http://schemas.microsoft.com/office/powerpoint/2010/main" val="45913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2026-07-11T06:21:27.0440000Z</dcterms:created>
  <dcterms:modified xsi:type="dcterms:W3CDTF">2026-07-11T06:21:27.0440000Z</dcterms:modified>
</coreProperties>
</file>